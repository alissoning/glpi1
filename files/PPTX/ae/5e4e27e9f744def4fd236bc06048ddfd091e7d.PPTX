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8" r:id="rId2"/>
    <p:sldId id="262" r:id="rId3"/>
    <p:sldId id="268" r:id="rId4"/>
    <p:sldId id="269" r:id="rId5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4E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42" autoAdjust="0"/>
    <p:restoredTop sz="94660" autoAdjust="0"/>
  </p:normalViewPr>
  <p:slideViewPr>
    <p:cSldViewPr snapToGrid="0">
      <p:cViewPr varScale="1">
        <p:scale>
          <a:sx n="112" d="100"/>
          <a:sy n="112" d="100"/>
        </p:scale>
        <p:origin x="258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ADE4A048-7BFB-6ADA-7DE2-4E71AD51A6F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91AE9DB-5779-3E59-9974-2DC4EC076E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A4521A-8DB1-4193-852B-2CC858AE4D2F}" type="datetimeFigureOut">
              <a:rPr lang="es-CO" smtClean="0"/>
              <a:t>19/11/2024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31ED617-ACED-5785-EB85-44F34691D9D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F8CBFBB-5693-D6F2-E5C9-937EF8A64AE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A9860C-77E4-41F3-ACBD-61E778DE324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452154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80098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74BC7B02-49E0-44A4-9288-C72E34258838}" type="slidenum">
              <a:rPr lang="es-CO" smtClean="0"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623945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D3C52-8F66-4F21-B7D1-7F020DDE4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7D4C5A5-B425-6AAD-9581-B859564EEC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8B2F207-5023-ACAE-B4E0-CAD2408D3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6866736-E941-F935-DE1E-D9CCEE3394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74BC7B02-49E0-44A4-9288-C72E34258838}" type="slidenum">
              <a:rPr lang="es-CO" smtClean="0"/>
              <a:t>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552895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ABFA6-90AE-DD02-DA6F-54E10C87F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DDFF6D5-383F-A174-C80F-A1A298F4EB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217B716-9A08-D627-2002-3966CFF9F6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88705F0-FE50-82C2-C80F-41B94535A7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74BC7B02-49E0-44A4-9288-C72E34258838}" type="slidenum">
              <a:rPr lang="es-CO" smtClean="0"/>
              <a:t>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74176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Clinica nue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4598F1C4-40A3-973D-5E7A-21E931BF0C2C}"/>
              </a:ext>
            </a:extLst>
          </p:cNvPr>
          <p:cNvSpPr/>
          <p:nvPr userDrawn="1"/>
        </p:nvSpPr>
        <p:spPr>
          <a:xfrm>
            <a:off x="0" y="0"/>
            <a:ext cx="2852058" cy="6858000"/>
          </a:xfrm>
          <a:prstGeom prst="rect">
            <a:avLst/>
          </a:prstGeom>
          <a:solidFill>
            <a:srgbClr val="134E9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DB078D0-D58B-09F4-9667-7734F36962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766"/>
          <a:stretch/>
        </p:blipFill>
        <p:spPr>
          <a:xfrm>
            <a:off x="2852058" y="0"/>
            <a:ext cx="9339942" cy="6858000"/>
          </a:xfrm>
          <a:prstGeom prst="rect">
            <a:avLst/>
          </a:prstGeom>
        </p:spPr>
      </p:pic>
      <p:pic>
        <p:nvPicPr>
          <p:cNvPr id="3" name="Imagen 2" descr="Interfaz de usuario gráfica, Texto, Aplicación">
            <a:extLst>
              <a:ext uri="{FF2B5EF4-FFF2-40B4-BE49-F238E27FC236}">
                <a16:creationId xmlns:a16="http://schemas.microsoft.com/office/drawing/2014/main" id="{A54E1FD4-C93D-EF6E-11C7-409714D8652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628" y="237039"/>
            <a:ext cx="3959360" cy="932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662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exposi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">
            <a:extLst>
              <a:ext uri="{FF2B5EF4-FFF2-40B4-BE49-F238E27FC236}">
                <a16:creationId xmlns:a16="http://schemas.microsoft.com/office/drawing/2014/main" id="{12CBAD33-E234-ACD1-E44E-80C3513D52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9" name="Título 8">
            <a:extLst>
              <a:ext uri="{FF2B5EF4-FFF2-40B4-BE49-F238E27FC236}">
                <a16:creationId xmlns:a16="http://schemas.microsoft.com/office/drawing/2014/main" id="{DDD4C4CB-4D0C-C21E-9738-2E6B470E91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27803" y="2183478"/>
            <a:ext cx="9736393" cy="1325563"/>
          </a:xfrm>
        </p:spPr>
        <p:txBody>
          <a:bodyPr>
            <a:noAutofit/>
          </a:bodyPr>
          <a:lstStyle>
            <a:lvl1pPr algn="ctr">
              <a:defRPr sz="4000" b="1">
                <a:solidFill>
                  <a:schemeClr val="bg1"/>
                </a:solidFill>
                <a:latin typeface="Futura URW Medium" panose="020B0602020204020303" pitchFamily="34" charset="0"/>
              </a:defRPr>
            </a:lvl1pPr>
          </a:lstStyle>
          <a:p>
            <a:r>
              <a:rPr lang="es-ES" dirty="0"/>
              <a:t>Título</a:t>
            </a:r>
            <a:endParaRPr lang="es-CO" dirty="0"/>
          </a:p>
        </p:txBody>
      </p:sp>
      <p:sp>
        <p:nvSpPr>
          <p:cNvPr id="26" name="Marcador de texto 25">
            <a:extLst>
              <a:ext uri="{FF2B5EF4-FFF2-40B4-BE49-F238E27FC236}">
                <a16:creationId xmlns:a16="http://schemas.microsoft.com/office/drawing/2014/main" id="{0845886B-6CB8-DBC9-153E-D7ADC7862B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43713" y="5043488"/>
            <a:ext cx="5073650" cy="827087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2">
                    <a:lumMod val="50000"/>
                  </a:schemeClr>
                </a:solidFill>
                <a:latin typeface="Futura URW Medium" panose="020B0602020204020303" pitchFamily="34" charset="0"/>
              </a:defRPr>
            </a:lvl1pPr>
            <a:lvl2pPr>
              <a:defRPr>
                <a:solidFill>
                  <a:schemeClr val="bg1"/>
                </a:solidFill>
                <a:latin typeface="Futura URW Medium" panose="020B0602020204020303" pitchFamily="34" charset="0"/>
              </a:defRPr>
            </a:lvl2pPr>
            <a:lvl3pPr>
              <a:defRPr>
                <a:solidFill>
                  <a:schemeClr val="bg1"/>
                </a:solidFill>
                <a:latin typeface="Futura URW Medium" panose="020B0602020204020303" pitchFamily="34" charset="0"/>
              </a:defRPr>
            </a:lvl3pPr>
            <a:lvl4pPr>
              <a:defRPr>
                <a:solidFill>
                  <a:schemeClr val="bg1"/>
                </a:solidFill>
                <a:latin typeface="Futura URW Medium" panose="020B0602020204020303" pitchFamily="34" charset="0"/>
              </a:defRPr>
            </a:lvl4pPr>
            <a:lvl5pPr>
              <a:defRPr>
                <a:solidFill>
                  <a:schemeClr val="bg1"/>
                </a:solidFill>
                <a:latin typeface="Futura URW Medium" panose="020B0602020204020303" pitchFamily="34" charset="0"/>
              </a:defRPr>
            </a:lvl5pPr>
          </a:lstStyle>
          <a:p>
            <a:pPr lvl="0"/>
            <a:r>
              <a:rPr lang="es-ES" dirty="0"/>
              <a:t>Nombre expositor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151410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EFE378CD-D95A-9F46-F1CB-6CE92BB0B8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8" name="Título 7">
            <a:extLst>
              <a:ext uri="{FF2B5EF4-FFF2-40B4-BE49-F238E27FC236}">
                <a16:creationId xmlns:a16="http://schemas.microsoft.com/office/drawing/2014/main" id="{51E09437-B7EF-1B7F-A726-A025C03118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19575" y="241301"/>
            <a:ext cx="6581775" cy="1301750"/>
          </a:xfrm>
        </p:spPr>
        <p:txBody>
          <a:bodyPr>
            <a:normAutofit/>
          </a:bodyPr>
          <a:lstStyle>
            <a:lvl1pPr algn="ctr">
              <a:defRPr sz="40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s-ES" dirty="0"/>
              <a:t>Título</a:t>
            </a:r>
            <a:endParaRPr lang="es-CO" dirty="0"/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CF55F018-7D78-0332-F17B-929A117ED2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66800" y="2028825"/>
            <a:ext cx="10067925" cy="3552825"/>
          </a:xfr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 algn="l">
              <a:defRPr>
                <a:solidFill>
                  <a:schemeClr val="bg2">
                    <a:lumMod val="50000"/>
                  </a:schemeClr>
                </a:solidFill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</a:defRPr>
            </a:lvl5pPr>
          </a:lstStyle>
          <a:p>
            <a:pPr lvl="1"/>
            <a:r>
              <a:rPr lang="es-ES" dirty="0"/>
              <a:t>Texto breve : La presentación en PowerPoint complementa la exposición que vas a hacer en persona y por tanto no necesitas ni debes incluir en las diapositivas todo el texto que vas a decir. </a:t>
            </a:r>
          </a:p>
          <a:p>
            <a:pPr lvl="1"/>
            <a:endParaRPr lang="es-ES" dirty="0"/>
          </a:p>
          <a:p>
            <a:pPr lvl="1"/>
            <a:r>
              <a:rPr lang="es-ES" dirty="0"/>
              <a:t>Nadie tendrá tiempo para leerlo todo, y si lo hacen no podrán a la vez prestar atención a lo que estás diciendo. </a:t>
            </a:r>
          </a:p>
        </p:txBody>
      </p:sp>
    </p:spTree>
    <p:extLst>
      <p:ext uri="{BB962C8B-B14F-4D97-AF65-F5344CB8AC3E}">
        <p14:creationId xmlns:p14="http://schemas.microsoft.com/office/powerpoint/2010/main" val="2517790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y 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5B9368E1-3D39-D861-461E-9A1215F323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6" name="Título 5">
            <a:extLst>
              <a:ext uri="{FF2B5EF4-FFF2-40B4-BE49-F238E27FC236}">
                <a16:creationId xmlns:a16="http://schemas.microsoft.com/office/drawing/2014/main" id="{AE210895-34D3-A583-D483-221A83D840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8162" y="1362075"/>
            <a:ext cx="5576888" cy="923925"/>
          </a:xfrm>
        </p:spPr>
        <p:txBody>
          <a:bodyPr>
            <a:noAutofit/>
          </a:bodyPr>
          <a:lstStyle>
            <a:lvl1pPr>
              <a:defRPr sz="36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s-ES" dirty="0"/>
              <a:t>Título</a:t>
            </a:r>
            <a:endParaRPr lang="es-CO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61A888E-FDC4-20C7-3CF5-AE1CED6A39C8}"/>
              </a:ext>
            </a:extLst>
          </p:cNvPr>
          <p:cNvSpPr/>
          <p:nvPr userDrawn="1"/>
        </p:nvSpPr>
        <p:spPr>
          <a:xfrm>
            <a:off x="7248525" y="571500"/>
            <a:ext cx="4429125" cy="58578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C19D402B-C731-B294-46C0-F86C8BCBE19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71525" y="2943225"/>
            <a:ext cx="5343525" cy="3219450"/>
          </a:xfrm>
        </p:spPr>
        <p:txBody>
          <a:bodyPr/>
          <a:lstStyle>
            <a:lvl1pPr>
              <a:defRPr sz="2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ES" dirty="0"/>
              <a:t>Se recomienda simplificar al máximo los gráficos, mostrando solo los datos que vas a tratar en la presentación. En caso de que sean varios, siempre puedes separar el gráfico en varias diapositivas, y centrarte en un dato en cada una de ellas.</a:t>
            </a:r>
          </a:p>
          <a:p>
            <a:pPr lvl="0"/>
            <a:endParaRPr lang="es-ES" dirty="0"/>
          </a:p>
        </p:txBody>
      </p:sp>
      <p:sp>
        <p:nvSpPr>
          <p:cNvPr id="10" name="Marcador de gráfico 9">
            <a:extLst>
              <a:ext uri="{FF2B5EF4-FFF2-40B4-BE49-F238E27FC236}">
                <a16:creationId xmlns:a16="http://schemas.microsoft.com/office/drawing/2014/main" id="{5C3902E7-C574-749F-3B07-78718A9F3748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7562850" y="857250"/>
            <a:ext cx="3981450" cy="542925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s-ES"/>
              <a:t>Haga clic en el icono para agregar un gráfico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874465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86F98DB3-5231-022E-CD95-1EF69E186E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8" name="Título 7">
            <a:extLst>
              <a:ext uri="{FF2B5EF4-FFF2-40B4-BE49-F238E27FC236}">
                <a16:creationId xmlns:a16="http://schemas.microsoft.com/office/drawing/2014/main" id="{233C3BC0-C85B-C270-C83E-52396D9649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700" y="1189831"/>
            <a:ext cx="10515600" cy="1325563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</a:t>
            </a:r>
            <a:endParaRPr lang="es-CO" dirty="0"/>
          </a:p>
        </p:txBody>
      </p:sp>
      <p:sp>
        <p:nvSpPr>
          <p:cNvPr id="10" name="Marcador de contenido 9">
            <a:extLst>
              <a:ext uri="{FF2B5EF4-FFF2-40B4-BE49-F238E27FC236}">
                <a16:creationId xmlns:a16="http://schemas.microsoft.com/office/drawing/2014/main" id="{63517E09-A905-ECCC-883B-3D19B294EBD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66800" y="2971800"/>
            <a:ext cx="10410825" cy="324802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2">
                    <a:lumMod val="50000"/>
                  </a:schemeClr>
                </a:solidFill>
              </a:defRPr>
            </a:lvl1pPr>
            <a:lvl2pPr>
              <a:defRPr sz="2400">
                <a:solidFill>
                  <a:schemeClr val="bg2">
                    <a:lumMod val="50000"/>
                  </a:schemeClr>
                </a:solidFill>
              </a:defRPr>
            </a:lvl2pPr>
            <a:lvl3pPr>
              <a:defRPr sz="2400">
                <a:solidFill>
                  <a:schemeClr val="bg2">
                    <a:lumMod val="50000"/>
                  </a:schemeClr>
                </a:solidFill>
              </a:defRPr>
            </a:lvl3pPr>
            <a:lvl4pPr>
              <a:defRPr sz="2400">
                <a:solidFill>
                  <a:schemeClr val="bg2">
                    <a:lumMod val="50000"/>
                  </a:schemeClr>
                </a:solidFill>
              </a:defRPr>
            </a:lvl4pPr>
            <a:lvl5pPr>
              <a:defRPr sz="2400">
                <a:solidFill>
                  <a:schemeClr val="bg2">
                    <a:lumMod val="50000"/>
                  </a:schemeClr>
                </a:solidFill>
              </a:defRPr>
            </a:lvl5pPr>
          </a:lstStyle>
          <a:p>
            <a:pPr lvl="0"/>
            <a:r>
              <a:rPr lang="es-ES" dirty="0"/>
              <a:t>Texto breve: La idea de una presentación es ofrecer la información ya masticada, resumida y no de abrumar con información, anécdotas e historias no estrictamente relacionadas.</a:t>
            </a:r>
          </a:p>
          <a:p>
            <a:pPr lvl="0"/>
            <a:endParaRPr lang="es-ES" dirty="0"/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ES" dirty="0"/>
              <a:t>El texto de las diapositivas debe ser estrictamente el necesario. Una diapositiva, un tema, es un buen punto de partida. </a:t>
            </a:r>
            <a:endParaRPr lang="es-CO" dirty="0"/>
          </a:p>
          <a:p>
            <a:pPr lv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45592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50DE1D43-6051-54CE-66A3-AB8C707FFD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198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y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62205DFA-B5DD-3F50-B583-C6E6BFFF20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6" name="Título 5">
            <a:extLst>
              <a:ext uri="{FF2B5EF4-FFF2-40B4-BE49-F238E27FC236}">
                <a16:creationId xmlns:a16="http://schemas.microsoft.com/office/drawing/2014/main" id="{AE210895-34D3-A583-D483-221A83D840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8162" y="1362075"/>
            <a:ext cx="5576888" cy="923925"/>
          </a:xfrm>
        </p:spPr>
        <p:txBody>
          <a:bodyPr>
            <a:noAutofit/>
          </a:bodyPr>
          <a:lstStyle>
            <a:lvl1pPr>
              <a:defRPr sz="36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s-ES" dirty="0"/>
              <a:t>Título</a:t>
            </a:r>
            <a:endParaRPr lang="es-CO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61A888E-FDC4-20C7-3CF5-AE1CED6A39C8}"/>
              </a:ext>
            </a:extLst>
          </p:cNvPr>
          <p:cNvSpPr/>
          <p:nvPr userDrawn="1"/>
        </p:nvSpPr>
        <p:spPr>
          <a:xfrm>
            <a:off x="7248525" y="571500"/>
            <a:ext cx="4429125" cy="58578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054478A-08A2-E46F-0AD9-B728D1A70BE6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534275" y="1152525"/>
            <a:ext cx="3886200" cy="5048250"/>
          </a:xfrm>
        </p:spPr>
        <p:txBody>
          <a:bodyPr>
            <a:normAutofit/>
          </a:bodyPr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2pPr>
            <a:lvl3pPr>
              <a:defRPr>
                <a:solidFill>
                  <a:schemeClr val="bg2">
                    <a:lumMod val="50000"/>
                  </a:schemeClr>
                </a:solidFill>
              </a:defRPr>
            </a:lvl3pPr>
            <a:lvl4pPr>
              <a:defRPr>
                <a:solidFill>
                  <a:schemeClr val="bg2">
                    <a:lumMod val="50000"/>
                  </a:schemeClr>
                </a:solidFill>
              </a:defRPr>
            </a:lvl4pPr>
            <a:lvl5pPr>
              <a:defRPr>
                <a:solidFill>
                  <a:schemeClr val="bg2">
                    <a:lumMod val="50000"/>
                  </a:schemeClr>
                </a:solidFill>
              </a:defRPr>
            </a:lvl5pPr>
          </a:lstStyle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ES" dirty="0"/>
              <a:t>Texto breve: usarse más palabras claves, que te ayuden a orientar en la presentación</a:t>
            </a:r>
          </a:p>
        </p:txBody>
      </p:sp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F68A7EF1-DB36-4316-022C-E866D7B2B4C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0" y="3038475"/>
            <a:ext cx="5257800" cy="3276600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s-ES"/>
              <a:t>Haga clic en el icono para agregar una imagen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76964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tabl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Texto&#10;&#10;Descripción generada automáticamente">
            <a:extLst>
              <a:ext uri="{FF2B5EF4-FFF2-40B4-BE49-F238E27FC236}">
                <a16:creationId xmlns:a16="http://schemas.microsoft.com/office/drawing/2014/main" id="{7479EEAE-95A7-08AE-A016-DDBA1FA3E2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9" name="Marcador de tabla 8">
            <a:extLst>
              <a:ext uri="{FF2B5EF4-FFF2-40B4-BE49-F238E27FC236}">
                <a16:creationId xmlns:a16="http://schemas.microsoft.com/office/drawing/2014/main" id="{B0BE6AFC-C0BC-45BD-45C6-9D78C39B5D5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314449" y="1943100"/>
            <a:ext cx="9915525" cy="4276726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s-ES"/>
              <a:t>Haga clic en el icono para agregar una tabla</a:t>
            </a:r>
            <a:endParaRPr lang="es-CO" dirty="0"/>
          </a:p>
        </p:txBody>
      </p:sp>
      <p:sp>
        <p:nvSpPr>
          <p:cNvPr id="10" name="Título 9">
            <a:extLst>
              <a:ext uri="{FF2B5EF4-FFF2-40B4-BE49-F238E27FC236}">
                <a16:creationId xmlns:a16="http://schemas.microsoft.com/office/drawing/2014/main" id="{CC4BFC14-6024-CE33-7CA9-05C86EAB2B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81650" y="365125"/>
            <a:ext cx="5772150" cy="1325563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s-ES" dirty="0"/>
              <a:t>Título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06500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AED0FC13-A6AA-F92C-E3D2-668BACD635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13" name="Título 12">
            <a:extLst>
              <a:ext uri="{FF2B5EF4-FFF2-40B4-BE49-F238E27FC236}">
                <a16:creationId xmlns:a16="http://schemas.microsoft.com/office/drawing/2014/main" id="{9D7EFB91-1050-0616-7FB1-C07718B1F4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10250" y="365125"/>
            <a:ext cx="5514974" cy="873125"/>
          </a:xfrm>
        </p:spPr>
        <p:txBody>
          <a:bodyPr>
            <a:noAutofit/>
          </a:bodyPr>
          <a:lstStyle>
            <a:lvl1pPr>
              <a:defRPr sz="36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s-ES" dirty="0"/>
              <a:t>Título</a:t>
            </a:r>
            <a:endParaRPr lang="es-CO" dirty="0"/>
          </a:p>
        </p:txBody>
      </p:sp>
      <p:sp>
        <p:nvSpPr>
          <p:cNvPr id="15" name="Marcador de contenido 14">
            <a:extLst>
              <a:ext uri="{FF2B5EF4-FFF2-40B4-BE49-F238E27FC236}">
                <a16:creationId xmlns:a16="http://schemas.microsoft.com/office/drawing/2014/main" id="{084D9556-2FA1-BBB3-D148-3E86C2B6B61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233486" y="2009775"/>
            <a:ext cx="9725025" cy="167640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ES" dirty="0"/>
              <a:t>Las listas con viñetas son muy eficaces, pero intenta reemplazarlas por listas numeradas. Te hará la vida más fácil a ti y a quienes están asistiendo a la presentación.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912770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48CDD0FA-B582-F237-0F74-B23E4C1B35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8" name="Título 7">
            <a:extLst>
              <a:ext uri="{FF2B5EF4-FFF2-40B4-BE49-F238E27FC236}">
                <a16:creationId xmlns:a16="http://schemas.microsoft.com/office/drawing/2014/main" id="{4453EB5E-E8E2-1621-5A8D-BF37510D7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14900" y="323851"/>
            <a:ext cx="4362450" cy="904874"/>
          </a:xfrm>
        </p:spPr>
        <p:txBody>
          <a:bodyPr>
            <a:noAutofit/>
          </a:bodyPr>
          <a:lstStyle>
            <a:lvl1pPr algn="r">
              <a:defRPr sz="36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s-ES" dirty="0"/>
              <a:t>Conclusiones</a:t>
            </a:r>
            <a:endParaRPr lang="es-CO" dirty="0"/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BE0ED10D-D6D0-DDE8-621F-A843FC0152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0900" y="5610225"/>
            <a:ext cx="4676775" cy="609600"/>
          </a:xfrm>
        </p:spPr>
        <p:txBody>
          <a:bodyPr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s-ES" dirty="0"/>
              <a:t>GRACIAS</a:t>
            </a:r>
            <a:endParaRPr lang="es-CO" dirty="0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401FF2B5-0C32-95D0-F084-0262C9632A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90700" y="1885950"/>
            <a:ext cx="8201025" cy="3019425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>
                <a:solidFill>
                  <a:schemeClr val="accent3">
                    <a:lumMod val="75000"/>
                  </a:schemeClr>
                </a:solidFill>
              </a:defRPr>
            </a:lvl1pPr>
            <a:lvl2pPr marL="914400" indent="-457200">
              <a:buFont typeface="+mj-lt"/>
              <a:buAutoNum type="arabicPeriod"/>
              <a:defRPr sz="2400">
                <a:solidFill>
                  <a:schemeClr val="accent3">
                    <a:lumMod val="75000"/>
                  </a:schemeClr>
                </a:solidFill>
              </a:defRPr>
            </a:lvl2pPr>
            <a:lvl3pPr marL="1371600" indent="-457200">
              <a:buFont typeface="+mj-lt"/>
              <a:buAutoNum type="arabicPeriod"/>
              <a:defRPr sz="2400">
                <a:solidFill>
                  <a:schemeClr val="accent3">
                    <a:lumMod val="75000"/>
                  </a:schemeClr>
                </a:solidFill>
              </a:defRPr>
            </a:lvl3pPr>
            <a:lvl4pPr marL="1828800" indent="-457200">
              <a:buFont typeface="+mj-lt"/>
              <a:buAutoNum type="arabicPeriod"/>
              <a:defRPr sz="2400">
                <a:solidFill>
                  <a:schemeClr val="accent3">
                    <a:lumMod val="75000"/>
                  </a:schemeClr>
                </a:solidFill>
              </a:defRPr>
            </a:lvl4pPr>
            <a:lvl5pPr marL="2286000" indent="-457200">
              <a:buFont typeface="+mj-lt"/>
              <a:buAutoNum type="arabicPeriod"/>
              <a:defRPr sz="2400">
                <a:solidFill>
                  <a:schemeClr val="accent3">
                    <a:lumMod val="75000"/>
                  </a:schemeClr>
                </a:solidFill>
              </a:defRPr>
            </a:lvl5pPr>
          </a:lstStyle>
          <a:p>
            <a:pPr lvl="0"/>
            <a:r>
              <a:rPr lang="es-ES" dirty="0"/>
              <a:t>El texto de las diapositivas debe ser estrictamente el necesario. </a:t>
            </a:r>
          </a:p>
          <a:p>
            <a:pPr lvl="0"/>
            <a:r>
              <a:rPr lang="es-ES" dirty="0"/>
              <a:t>El texto de las diapositivas debe ser estrictamente el necesario. </a:t>
            </a:r>
          </a:p>
          <a:p>
            <a:pPr lvl="0"/>
            <a:r>
              <a:rPr lang="es-ES" dirty="0"/>
              <a:t>El texto de las diapositivas debe ser estrictamente el necesario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305431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9FB2BF9-B6E6-67C5-7E32-EA1FCA117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916B0F9-1C83-2539-4FBE-9AF2F810A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BA3F182-681E-9BB1-1C52-D0617909CC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2E1933-6A5D-4096-B4DA-28319383FD22}" type="datetimeFigureOut">
              <a:rPr lang="es-CO" smtClean="0"/>
              <a:t>19/11/2024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D3B7C0-3F5D-003F-EAF4-AA92B830CA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C70CF18-D3AC-799D-0CA3-1AE8AAEBC9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082C19-B148-4844-ADFC-1622B4247EC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23319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  <p:sldLayoutId id="2147483655" r:id="rId3"/>
    <p:sldLayoutId id="2147483651" r:id="rId4"/>
    <p:sldLayoutId id="2147483652" r:id="rId5"/>
    <p:sldLayoutId id="2147483656" r:id="rId6"/>
    <p:sldLayoutId id="2147483657" r:id="rId7"/>
    <p:sldLayoutId id="2147483658" r:id="rId8"/>
    <p:sldLayoutId id="2147483653" r:id="rId9"/>
    <p:sldLayoutId id="2147483654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sinpra.blogspot.com/2019/05/antibioticos-estao-entre-os.html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revistaecuadorescalidad.agrocalidad.gob.ec/revistaecuadorescalidad/index.php/revista/article/view/8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7970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3CE913-3DEB-3C72-62DA-56D54FA6E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4400" b="1" dirty="0"/>
              <a:t>¿Qué es el PROGEA?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61E933-1BEB-218C-A35F-EEB2CF3FE75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7701" y="2718594"/>
            <a:ext cx="4625054" cy="3248025"/>
          </a:xfrm>
        </p:spPr>
        <p:txBody>
          <a:bodyPr/>
          <a:lstStyle/>
          <a:p>
            <a:r>
              <a:rPr lang="es-CO" dirty="0"/>
              <a:t>El Programa de gerenciamiento de antimicrobianos (PROGEA) es aquel que busca promover el uso prudente y racional de los medicamentos antimicrobianos tanto para profesionales de la salud, pacientes y sus familiares.</a:t>
            </a:r>
          </a:p>
        </p:txBody>
      </p:sp>
      <p:pic>
        <p:nvPicPr>
          <p:cNvPr id="5" name="Imagen 4" descr="Imagen que contiene interior, tabla, juguete, pequeño&#10;&#10;Descripción generada automáticamente">
            <a:extLst>
              <a:ext uri="{FF2B5EF4-FFF2-40B4-BE49-F238E27FC236}">
                <a16:creationId xmlns:a16="http://schemas.microsoft.com/office/drawing/2014/main" id="{D73540F4-AD1B-D81C-DB5A-28C86C0FAA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651263" y="2640801"/>
            <a:ext cx="5512037" cy="3582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994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D3630-1968-FFF9-7792-99368BFFB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6975DC-5812-1351-52E3-6AB727B8B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1189831"/>
            <a:ext cx="10811132" cy="1325563"/>
          </a:xfrm>
        </p:spPr>
        <p:txBody>
          <a:bodyPr>
            <a:normAutofit/>
          </a:bodyPr>
          <a:lstStyle/>
          <a:p>
            <a:r>
              <a:rPr lang="es-CO" sz="4400" b="1" dirty="0"/>
              <a:t>¿Cuáles son los objetivos del PROGEA?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C27D01-2058-3103-C1E2-5D979778D0C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7700" y="2718594"/>
            <a:ext cx="10410825" cy="324802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dirty="0"/>
              <a:t>Racionalizar el consumo de antibióticos, optimizando los tratamientos, sin comprometer la calidad de la atención y el cuidado de la salud.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dirty="0"/>
              <a:t>Minimizar los efectos no deseados de los antimicrobianos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dirty="0"/>
              <a:t>Educar en el uso prudente de antimicrobianos a los profesionales, pacientes y sus familias.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992560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A79DA-9E5B-AFB3-D449-F6AF1856C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A807AE-D85C-A563-16C2-DBCBAFD0C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1189831"/>
            <a:ext cx="10942938" cy="1325563"/>
          </a:xfrm>
        </p:spPr>
        <p:txBody>
          <a:bodyPr>
            <a:normAutofit/>
          </a:bodyPr>
          <a:lstStyle/>
          <a:p>
            <a:r>
              <a:rPr lang="es-CO" sz="4400" b="1" dirty="0"/>
              <a:t>¿Qué es la Resistencia Antimicrobiana?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0CBA4F-2192-45A3-39D3-41B4649C240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7700" y="2718594"/>
            <a:ext cx="5736007" cy="3248025"/>
          </a:xfrm>
        </p:spPr>
        <p:txBody>
          <a:bodyPr>
            <a:normAutofit/>
          </a:bodyPr>
          <a:lstStyle/>
          <a:p>
            <a:r>
              <a:rPr lang="es-ES" dirty="0"/>
              <a:t>La resistencia a los antimicrobianos (RAM) surge cuando los microorganismos dejan de responder a los medicamentos, lo que hace más difícil el tratamiento de las infecciones e incrementa el riesgo de propagación de enfermedades, de aparición de formas graves de enfermedades y de muerte.</a:t>
            </a:r>
            <a:endParaRPr lang="es-CO" dirty="0"/>
          </a:p>
        </p:txBody>
      </p:sp>
      <p:pic>
        <p:nvPicPr>
          <p:cNvPr id="8" name="Imagen 7" descr="Patrón de fondo&#10;&#10;Descripción generada automáticamente">
            <a:extLst>
              <a:ext uri="{FF2B5EF4-FFF2-40B4-BE49-F238E27FC236}">
                <a16:creationId xmlns:a16="http://schemas.microsoft.com/office/drawing/2014/main" id="{E68E6917-8228-C433-B80F-93D14955B4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541806" y="2718593"/>
            <a:ext cx="4644639" cy="308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5360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clinica nueva">
      <a:dk1>
        <a:srgbClr val="595959"/>
      </a:dk1>
      <a:lt1>
        <a:sysClr val="window" lastClr="FFFFFF"/>
      </a:lt1>
      <a:dk2>
        <a:srgbClr val="4472C4"/>
      </a:dk2>
      <a:lt2>
        <a:srgbClr val="FFFFFF"/>
      </a:lt2>
      <a:accent1>
        <a:srgbClr val="4472C4"/>
      </a:accent1>
      <a:accent2>
        <a:srgbClr val="70AD47"/>
      </a:accent2>
      <a:accent3>
        <a:srgbClr val="A5A5A5"/>
      </a:accent3>
      <a:accent4>
        <a:srgbClr val="C5E0B3"/>
      </a:accent4>
      <a:accent5>
        <a:srgbClr val="5B9BD5"/>
      </a:accent5>
      <a:accent6>
        <a:srgbClr val="A8D08D"/>
      </a:accent6>
      <a:hlink>
        <a:srgbClr val="8EAADB"/>
      </a:hlink>
      <a:folHlink>
        <a:srgbClr val="FFFFFF"/>
      </a:folHlink>
    </a:clrScheme>
    <a:fontScheme name="Clinica nueva">
      <a:majorFont>
        <a:latin typeface="Futura URW Medium"/>
        <a:ea typeface=""/>
        <a:cs typeface=""/>
      </a:majorFont>
      <a:minorFont>
        <a:latin typeface="Futura Std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resentaciones institucional 66años.pptx" id="{71853F4E-8279-4C51-882D-A6779EB5FE3E}" vid="{18729E96-3B9E-4B0C-8978-79F6CC10B2D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plantilla_actualizada_66años</Template>
  <TotalTime>182</TotalTime>
  <Words>156</Words>
  <Application>Microsoft Office PowerPoint</Application>
  <PresentationFormat>Panorámica</PresentationFormat>
  <Paragraphs>11</Paragraphs>
  <Slides>4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Arial</vt:lpstr>
      <vt:lpstr>Calibri</vt:lpstr>
      <vt:lpstr>Futura Std Medium</vt:lpstr>
      <vt:lpstr>Futura URW Medium</vt:lpstr>
      <vt:lpstr>Tema de Office</vt:lpstr>
      <vt:lpstr>Presentación de PowerPoint</vt:lpstr>
      <vt:lpstr>¿Qué es el PROGEA?</vt:lpstr>
      <vt:lpstr>¿Cuáles son los objetivos del PROGEA?</vt:lpstr>
      <vt:lpstr>¿Qué es la Resistencia Antimicrobiana?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David Repiso Cadena</dc:creator>
  <cp:lastModifiedBy>Juan David Repiso Cadena</cp:lastModifiedBy>
  <cp:revision>4</cp:revision>
  <dcterms:created xsi:type="dcterms:W3CDTF">2024-11-13T20:33:25Z</dcterms:created>
  <dcterms:modified xsi:type="dcterms:W3CDTF">2024-11-19T14:40:20Z</dcterms:modified>
</cp:coreProperties>
</file>